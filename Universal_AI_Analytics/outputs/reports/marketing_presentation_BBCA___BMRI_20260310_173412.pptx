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914400" y="2103120"/>
            <a:ext cx="10360152" cy="1463040"/>
          </a:xfrm>
          <a:prstGeom prst="rect">
            <a:avLst/>
          </a:prstGeom>
          <a:noFill/>
        </p:spPr>
        <p:txBody>
          <a:bodyPr wrap="square">
            <a:spAutoFit/>
          </a:bodyPr>
          <a:lstStyle/>
          <a:p>
            <a:pPr algn="ctr"/>
            <a:r>
              <a:rPr sz="3600" b="1">
                <a:solidFill>
                  <a:srgbClr val="FFFFFF"/>
                </a:solidFill>
              </a:rPr>
              <a:t>BBCA &amp; BMRI — Digital Marketing Campaign</a:t>
            </a:r>
          </a:p>
        </p:txBody>
      </p:sp>
      <p:sp>
        <p:nvSpPr>
          <p:cNvPr id="3" name="TextBox 2"/>
          <p:cNvSpPr txBox="1"/>
          <p:nvPr/>
        </p:nvSpPr>
        <p:spPr>
          <a:xfrm>
            <a:off x="914400" y="3749039"/>
            <a:ext cx="10360152" cy="822960"/>
          </a:xfrm>
          <a:prstGeom prst="rect">
            <a:avLst/>
          </a:prstGeom>
          <a:noFill/>
        </p:spPr>
        <p:txBody>
          <a:bodyPr wrap="square">
            <a:spAutoFit/>
          </a:bodyPr>
          <a:lstStyle/>
          <a:p>
            <a:pPr algn="ctr"/>
            <a:r>
              <a:rPr sz="1800" b="0">
                <a:solidFill>
                  <a:srgbClr val="C8E6C9"/>
                </a:solidFill>
              </a:rPr>
              <a:t>Campaign Report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Content Production Report: 'FutureForward Banking: Stay &amp; Thrive'</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1">
                <a:solidFill>
                  <a:srgbClr val="37474F"/>
                </a:solidFill>
              </a:rPr>
              <a:t>Brand: BBCA &amp; BMRI</a:t>
            </a:r>
          </a:p>
          <a:p>
            <a:pPr>
              <a:spcBef>
                <a:spcPts val="500"/>
              </a:spcBef>
            </a:pPr>
            <a:r>
              <a:rPr sz="1200" b="1">
                <a:solidFill>
                  <a:srgbClr val="37474F"/>
                </a:solidFill>
              </a:rPr>
              <a:t>Campaign: FutureForward Banking: Stay &amp; Thrive (Customer Retention)</a:t>
            </a:r>
          </a:p>
          <a:p>
            <a:pPr>
              <a:spcBef>
                <a:spcPts val="500"/>
              </a:spcBef>
            </a:pPr>
            <a:r>
              <a:rPr sz="1200" b="1">
                <a:solidFill>
                  <a:srgbClr val="37474F"/>
                </a:solidFill>
              </a:rPr>
              <a:t>Date: [Insert Date of Report]</a:t>
            </a:r>
          </a:p>
          <a:p>
            <a:pPr>
              <a:spcBef>
                <a:spcPts val="500"/>
              </a:spcBef>
            </a:pPr>
            <a:r>
              <a:rPr sz="1200" b="0">
                <a:solidFill>
                  <a:srgbClr val="37474F"/>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Content Summary</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This report details the comprehensive suite of marketing assets generated for the 'FutureForward Banking: Stay &amp; Thrive' customer retention campaign, designed for BBCA &amp; BMRI. The campaign's core objective is to re-engage and retain at-risk customers by highlighting the value, security, and forward-thinking digital solutions offered by both brands. The deliverables produced include a visually striking AI Promotional Poster, targeted ad copy for Google, Meta, and LinkedIn, platform-specific social media posts, and a dedicated HTML email template. Each asset is crafted to convey trust, promote financial growth, and provide peace of mind, aligning with the campaign's overarching theme of seamless, secure, and beneficial banking experiences.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Videos Produced</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No video content was produced during this specific content generation session. The focus was primarily on static visual assets, text-based ad copy, and email communications. Future iterations of the campaign may consider incorporating video content to further enhance engagement and storytelling capabilities.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Ad Copy</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A robust set of ad copy variants was developed, each tailored to specific platforms and audience segments, while maintaining an urgent and action-oriented tone:</a:t>
            </a:r>
          </a:p>
          <a:p>
            <a:pPr>
              <a:spcBef>
                <a:spcPts val="500"/>
              </a:spcBef>
            </a:pPr>
            <a:r>
              <a:rPr sz="1200" b="0">
                <a:solidFill>
                  <a:srgbClr val="37474F"/>
                </a:solidFill>
              </a:rPr>
              <a:t>*   Google Ads (3 variants): Crafted with an urgent tone, these ads focus on preventing the loss of benefits, stopping high bank fees, and protecting banking services. They specifically target month-to-month contract holders, new customers, and those with high monthly charges or low tech support uptake, addressing their immediate pain points.</a:t>
            </a:r>
          </a:p>
          <a:p>
            <a:pPr>
              <a:spcBef>
                <a:spcPts val="500"/>
              </a:spcBef>
            </a:pPr>
            <a:r>
              <a:rPr sz="1200" b="0">
                <a:solidFill>
                  <a:srgbClr val="37474F"/>
                </a:solidFill>
              </a:rPr>
              <a:t>*   Meta Ads (3 variants): These variants emphasize immediate action, urgent support for account reviews, and the protection of value for at-risk customers. The messaging is designed to prompt quick engagement and highlight the critical nature of securing their financial future with BBCA/BMRI.</a:t>
            </a:r>
          </a:p>
          <a:p>
            <a:pPr>
              <a:spcBef>
                <a:spcPts val="500"/>
              </a:spcBef>
            </a:pPr>
            <a:r>
              <a:rPr sz="1200" b="0">
                <a:solidFill>
                  <a:srgbClr val="37474F"/>
                </a:solidFill>
              </a:rPr>
              <a:t>*   LinkedIn Ads (3 variants): Adopting a professional yet urgent tone, these ads focus on securing banking futures, optimizing banking to avoid overpaying, and maximizing banking benefits through dedicated support. They are tailored to a professional audience, emphasizing strategic financial management and partnership.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Social Media</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Three distinct social media posts were generated, optimized for Instagram, Twitter, and LinkedIn. These posts consistently promote the 'FutureForward Banking: Stay &amp; Thrive' campaign by focusing on:</a:t>
            </a:r>
          </a:p>
          <a:p>
            <a:pPr>
              <a:spcBef>
                <a:spcPts val="500"/>
              </a:spcBef>
            </a:pPr>
            <a:r>
              <a:rPr sz="1200" b="0">
                <a:solidFill>
                  <a:srgbClr val="37474F"/>
                </a:solidFill>
              </a:rPr>
              <a:t>*   Seamless Digital Solutions: Highlighting the ease and efficiency of digital banking.</a:t>
            </a:r>
          </a:p>
          <a:p>
            <a:pPr>
              <a:spcBef>
                <a:spcPts val="500"/>
              </a:spcBef>
            </a:pPr>
            <a:r>
              <a:rPr sz="1200" b="0">
                <a:solidFill>
                  <a:srgbClr val="37474F"/>
                </a:solidFill>
              </a:rPr>
              <a:t>*   Thriving with BBCA/BMRI: Positioning the brands as trusted partners for financial growth.</a:t>
            </a:r>
          </a:p>
          <a:p>
            <a:pPr>
              <a:spcBef>
                <a:spcPts val="500"/>
              </a:spcBef>
            </a:pPr>
            <a:r>
              <a:rPr sz="1200" b="0">
                <a:solidFill>
                  <a:srgbClr val="37474F"/>
                </a:solidFill>
              </a:rPr>
              <a:t>*   Secure Banking Experiences: Reassuring customers about the safety and reliability of their services.</a:t>
            </a:r>
          </a:p>
          <a:p>
            <a:pPr>
              <a:spcBef>
                <a:spcPts val="500"/>
              </a:spcBef>
            </a:pPr>
            <a:r>
              <a:rPr sz="1200" b="0">
                <a:solidFill>
                  <a:srgbClr val="37474F"/>
                </a:solidFill>
              </a:rPr>
              <a:t>Each post includes relevant hashtags and clear calls to action, encouraging engagement and driving traffic to campaign landing pages or direct support channels.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Email Templates</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An HTML email template was created specifically for the 'FutureForward Banking: Stay &amp; Thrive' campaign. This template is designed to re-engage at-risk banking customers by directly addressing common churn drivers. It features a compelling subject line and body content that articulates the campaign's value propositions, reinforces the benefits of staying with BBCA/BMRI, and provides clear pathways for customers to access support or explore new offerings. The template aims to foster a sense of urgency and value, encouraging recipients to reconsider their banking relationship.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Performance Projections</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Based on the targeted nature and urgent tone of the content, we project the following outcomes:</a:t>
            </a:r>
          </a:p>
          <a:p>
            <a:pPr>
              <a:spcBef>
                <a:spcPts val="500"/>
              </a:spcBef>
            </a:pPr>
            <a:r>
              <a:rPr sz="1200" b="0">
                <a:solidFill>
                  <a:srgbClr val="37474F"/>
                </a:solidFill>
              </a:rPr>
              <a:t>*   Increased Engagement: Higher click-through rates (CTR) on ads and email opens due to compelling headlines and direct calls to action.</a:t>
            </a:r>
          </a:p>
          <a:p>
            <a:pPr>
              <a:spcBef>
                <a:spcPts val="500"/>
              </a:spcBef>
            </a:pPr>
            <a:r>
              <a:rPr sz="1200" b="0">
                <a:solidFill>
                  <a:srgbClr val="37474F"/>
                </a:solidFill>
              </a:rPr>
              <a:t>*   Improved Retention: A measurable reduction in churn among identified at-risk customer segments, driven by the campaign's focus on value and support.</a:t>
            </a:r>
          </a:p>
          <a:p>
            <a:pPr>
              <a:spcBef>
                <a:spcPts val="500"/>
              </a:spcBef>
            </a:pPr>
            <a:r>
              <a:rPr sz="1200" b="0">
                <a:solidFill>
                  <a:srgbClr val="37474F"/>
                </a:solidFill>
              </a:rPr>
              <a:t>*   Enhanced Brand Perception: Strengthening BBCA &amp; BMRI's image as proactive, customer-centric, and technologically advanced financial institutions.</a:t>
            </a:r>
          </a:p>
          <a:p>
            <a:pPr>
              <a:spcBef>
                <a:spcPts val="500"/>
              </a:spcBef>
            </a:pPr>
            <a:r>
              <a:rPr sz="1200" b="0">
                <a:solidFill>
                  <a:srgbClr val="37474F"/>
                </a:solidFill>
              </a:rPr>
              <a:t>*   Optimized Conversions: Higher conversion rates from ad clicks to landing page visits and subsequent re-engagement 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Next Steps</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0">
                <a:solidFill>
                  <a:srgbClr val="37474F"/>
                </a:solidFill>
              </a:rPr>
              <a:t>1.  Deployment: Launch all generated assets across their respective platforms (Google, Meta, LinkedIn, Instagram, Twitter, Email) as per the campaign schedule.</a:t>
            </a:r>
          </a:p>
          <a:p>
            <a:pPr>
              <a:spcBef>
                <a:spcPts val="500"/>
              </a:spcBef>
            </a:pPr>
            <a:r>
              <a:rPr sz="1200" b="0">
                <a:solidFill>
                  <a:srgbClr val="37474F"/>
                </a:solidFill>
              </a:rPr>
              <a:t>2.  A/B Testing: Implement A/B testing for ad copy variants, email subject lines, and calls to action to optimize performance and identify the most effective messaging.</a:t>
            </a:r>
          </a:p>
          <a:p>
            <a:pPr>
              <a:spcBef>
                <a:spcPts val="500"/>
              </a:spcBef>
            </a:pPr>
            <a:r>
              <a:rPr sz="1200" b="0">
                <a:solidFill>
                  <a:srgbClr val="37474F"/>
                </a:solidFill>
              </a:rPr>
              <a:t>3.  Performance Monitoring: Establish robust tracking and analytics to continuously monitor key metrics suchs as CTR, conversion rates, engagement levels, and ultimately, customer retention rates.</a:t>
            </a:r>
          </a:p>
          <a:p>
            <a:pPr>
              <a:spcBef>
                <a:spcPts val="500"/>
              </a:spcBef>
            </a:pPr>
            <a:r>
              <a:rPr sz="1200" b="0">
                <a:solidFill>
                  <a:srgbClr val="37474F"/>
                </a:solidFill>
              </a:rPr>
              <a:t>4.  Feedback Loop: Gather initial performance data to inform future content iterations and campaign adjustments.</a:t>
            </a:r>
          </a:p>
          <a:p>
            <a:pPr>
              <a:spcBef>
                <a:spcPts val="500"/>
              </a:spcBef>
            </a:pPr>
            <a:r>
              <a:rPr sz="1200" b="0">
                <a:solidFill>
                  <a:srgbClr val="37474F"/>
                </a:solidFill>
              </a:rPr>
              <a:t>5.  Internal Briefing: Ensure all relevant internal teams (e.g., customer service, sales) are fully briefed on the campaign messaging and value propositions to provide consistent customer support.</a:t>
            </a:r>
          </a:p>
          <a:p>
            <a:pPr>
              <a:spcBef>
                <a:spcPts val="500"/>
              </a:spcBef>
            </a:pPr>
            <a:r>
              <a:rPr sz="1200" b="0">
                <a:solidFill>
                  <a:srgbClr val="37474F"/>
                </a:solidFill>
              </a:rPr>
              <a:t>6.  Content Expansion: Explore the development of video content and additional educational resources for subsequent campaign phases to further deepen customer engagement.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914400" y="2103120"/>
            <a:ext cx="10360152" cy="1463040"/>
          </a:xfrm>
          <a:prstGeom prst="rect">
            <a:avLst/>
          </a:prstGeom>
          <a:noFill/>
        </p:spPr>
        <p:txBody>
          <a:bodyPr wrap="square">
            <a:spAutoFit/>
          </a:bodyPr>
          <a:lstStyle/>
          <a:p>
            <a:pPr algn="ctr"/>
            <a:r>
              <a:rPr sz="3600" b="1">
                <a:solidFill>
                  <a:srgbClr val="FFFFFF"/>
                </a:solidFill>
              </a:rPr>
              <a:t>Thank You</a:t>
            </a:r>
          </a:p>
        </p:txBody>
      </p:sp>
      <p:sp>
        <p:nvSpPr>
          <p:cNvPr id="3" name="TextBox 2"/>
          <p:cNvSpPr txBox="1"/>
          <p:nvPr/>
        </p:nvSpPr>
        <p:spPr>
          <a:xfrm>
            <a:off x="914400" y="3749039"/>
            <a:ext cx="10360152" cy="822960"/>
          </a:xfrm>
          <a:prstGeom prst="rect">
            <a:avLst/>
          </a:prstGeom>
          <a:noFill/>
        </p:spPr>
        <p:txBody>
          <a:bodyPr wrap="square">
            <a:spAutoFit/>
          </a:bodyPr>
          <a:lstStyle/>
          <a:p>
            <a:pPr algn="ctr"/>
            <a:r>
              <a:rPr sz="1800" b="0">
                <a:solidFill>
                  <a:srgbClr val="C8E6C9"/>
                </a:solidFill>
              </a:rPr>
              <a:t>Digital Marketing Campaign — Summary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