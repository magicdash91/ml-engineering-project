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914400" y="2103120"/>
            <a:ext cx="10360152" cy="1463040"/>
          </a:xfrm>
          <a:prstGeom prst="rect">
            <a:avLst/>
          </a:prstGeom>
          <a:noFill/>
        </p:spPr>
        <p:txBody>
          <a:bodyPr wrap="square">
            <a:spAutoFit/>
          </a:bodyPr>
          <a:lstStyle/>
          <a:p>
            <a:pPr algn="ctr"/>
            <a:r>
              <a:rPr sz="3600" b="1">
                <a:solidFill>
                  <a:srgbClr val="FFFFFF"/>
                </a:solidFill>
              </a:rPr>
              <a:t>BBCA &amp; BMRI — Digital Marketing Campaign</a:t>
            </a:r>
          </a:p>
        </p:txBody>
      </p:sp>
      <p:sp>
        <p:nvSpPr>
          <p:cNvPr id="3" name="TextBox 2"/>
          <p:cNvSpPr txBox="1"/>
          <p:nvPr/>
        </p:nvSpPr>
        <p:spPr>
          <a:xfrm>
            <a:off x="914400" y="3749039"/>
            <a:ext cx="10360152" cy="822960"/>
          </a:xfrm>
          <a:prstGeom prst="rect">
            <a:avLst/>
          </a:prstGeom>
          <a:noFill/>
        </p:spPr>
        <p:txBody>
          <a:bodyPr wrap="square">
            <a:spAutoFit/>
          </a:bodyPr>
          <a:lstStyle/>
          <a:p>
            <a:pPr algn="ctr"/>
            <a:r>
              <a:rPr sz="1800" b="0">
                <a:solidFill>
                  <a:srgbClr val="C8E6C9"/>
                </a:solidFill>
              </a:rPr>
              <a:t>Campaign Report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777240"/>
          </a:xfrm>
          <a:prstGeom prst="rect">
            <a:avLst/>
          </a:prstGeom>
          <a:noFill/>
        </p:spPr>
        <p:txBody>
          <a:bodyPr wrap="square">
            <a:spAutoFit/>
          </a:bodyPr>
          <a:lstStyle/>
          <a:p>
            <a:pPr algn="l"/>
            <a:r>
              <a:rPr sz="2200" b="1">
                <a:solidFill>
                  <a:srgbClr val="FFFFFF"/>
                </a:solidFill>
              </a:rPr>
              <a:t>Content Production Report: BBCA &amp; BMRI Customer Engagement Campaigns</a:t>
            </a:r>
          </a:p>
        </p:txBody>
      </p:sp>
      <p:sp>
        <p:nvSpPr>
          <p:cNvPr id="4" name="TextBox 3"/>
          <p:cNvSpPr txBox="1"/>
          <p:nvPr/>
        </p:nvSpPr>
        <p:spPr>
          <a:xfrm>
            <a:off x="457200" y="1234440"/>
            <a:ext cx="11274552" cy="5212080"/>
          </a:xfrm>
          <a:prstGeom prst="rect">
            <a:avLst/>
          </a:prstGeom>
          <a:noFill/>
        </p:spPr>
        <p:txBody>
          <a:bodyPr wrap="square">
            <a:spAutoFit/>
          </a:bodyPr>
          <a:lstStyle/>
          <a:p>
            <a:pPr>
              <a:spcBef>
                <a:spcPts val="500"/>
              </a:spcBef>
            </a:pPr>
            <a:r>
              <a:rPr sz="1200" b="1">
                <a:solidFill>
                  <a:srgbClr val="37474F"/>
                </a:solidFill>
              </a:rPr>
              <a:t>Content Summary</a:t>
            </a:r>
          </a:p>
          <a:p>
            <a:pPr>
              <a:spcBef>
                <a:spcPts val="500"/>
              </a:spcBef>
            </a:pPr>
            <a:r>
              <a:rPr sz="1200" b="0">
                <a:solidFill>
                  <a:srgbClr val="37474F"/>
                </a:solidFill>
              </a:rPr>
              <a:t>For BBCA &amp; BMRI, this production cycle focused strategically on two critical objectives: customer retention and contract upgrades. We successfully developed a suite of targeted content deliverables designed to engage existing customers, prevent churn, and encourage transitions from month-to-month to annual contracts. Key outputs include a promotional poster, multi-platform ad copy, diverse social media assets, and a dedicated email template, all aligned with the 'Annual Contract Upgrade - Setia &amp; Hemat' and 'Customer Churn Prevention &amp; Retention' campaigns. This content package is poised to strengthen customer loyalty and drive significant business value.</a:t>
            </a:r>
          </a:p>
          <a:p>
            <a:pPr>
              <a:spcBef>
                <a:spcPts val="500"/>
              </a:spcBef>
            </a:pPr>
            <a:r>
              <a:rPr sz="1200" b="1">
                <a:solidFill>
                  <a:srgbClr val="37474F"/>
                </a:solidFill>
              </a:rPr>
              <a:t>Videos Produced</a:t>
            </a:r>
          </a:p>
          <a:p>
            <a:pPr>
              <a:spcBef>
                <a:spcPts val="500"/>
              </a:spcBef>
            </a:pPr>
            <a:r>
              <a:rPr sz="1200" b="0">
                <a:solidFill>
                  <a:srgbClr val="37474F"/>
                </a:solidFill>
              </a:rPr>
              <a:t>No video content was produced during this specific content cycle. The focus remained on static visuals, concise ad copy, and direct communication channels to meet immediate campaign objectives.</a:t>
            </a:r>
          </a:p>
          <a:p>
            <a:pPr>
              <a:spcBef>
                <a:spcPts val="500"/>
              </a:spcBef>
            </a:pPr>
            <a:r>
              <a:rPr sz="1200" b="1">
                <a:solidFill>
                  <a:srgbClr val="37474F"/>
                </a:solidFill>
              </a:rPr>
              <a:t>Ad Copy</a:t>
            </a:r>
          </a:p>
          <a:p>
            <a:pPr>
              <a:spcBef>
                <a:spcPts val="500"/>
              </a:spcBef>
            </a:pPr>
            <a:r>
              <a:rPr sz="1200" b="0">
                <a:solidFill>
                  <a:srgbClr val="37474F"/>
                </a:solidFill>
              </a:rPr>
              <a:t>Three distinct ad copy variants were developed, tailored for deployment across Google, Meta (Facebook/Instagram), and LinkedIn advertising platforms. These variants are specifically designed to target existing month-to-month contract holders for the 'Annual Contract Upgrade - Setia &amp; Hemat' campaign. The primary objective is to clearly communicate the benefits and value proposition of upgrading to an annual contract, driving conversions and enhancing customer lifetime value. Each variant is optimized for its respective platform's audience and ad format best practices.</a:t>
            </a:r>
          </a:p>
          <a:p>
            <a:pPr>
              <a:spcBef>
                <a:spcPts val="500"/>
              </a:spcBef>
            </a:pPr>
            <a:r>
              <a:rPr sz="1200" b="1">
                <a:solidFill>
                  <a:srgbClr val="37474F"/>
                </a:solidFill>
              </a:rPr>
              <a:t>Social Media</a:t>
            </a:r>
          </a:p>
          <a:p>
            <a:pPr>
              <a:spcBef>
                <a:spcPts val="500"/>
              </a:spcBef>
            </a:pPr>
            <a:r>
              <a:rPr sz="1200" b="0">
                <a:solidFill>
                  <a:srgbClr val="37474F"/>
                </a:solidFill>
              </a:rPr>
              <a:t>A comprehensive set of nine social media posts was created, with three unique posts developed for each of the following platforms: Instagram, Twitter, and LinkedIn. These posts are integral to the broader 'Customer Churn Prevention &amp; Retention' campaign. The content aims to foster engagement, reinforce brand value, and proactively address potential churn by highlighting customer benefits, success stories, and the stability offered by BBCA &amp; BMRI. Each platform's content is adapted to its specific audience demographics and engagement patterns.</a:t>
            </a:r>
          </a:p>
          <a:p>
            <a:pPr>
              <a:spcBef>
                <a:spcPts val="500"/>
              </a:spcBef>
            </a:pPr>
            <a:r>
              <a:rPr sz="1200" b="1">
                <a:solidFill>
                  <a:srgbClr val="37474F"/>
                </a:solidFill>
              </a:rPr>
              <a:t>Email Templates</a:t>
            </a:r>
          </a:p>
          <a:p>
            <a:pPr>
              <a:spcBef>
                <a:spcPts val="500"/>
              </a:spcBef>
            </a:pPr>
            <a:r>
              <a:rPr sz="1200" b="0">
                <a:solidFill>
                  <a:srgbClr val="37474F"/>
                </a:solidFill>
              </a:rPr>
              <a:t>One dedicated email template was developed as a crucial component of the 'Customer Churn Prevention &amp; Retention' campaign. This template is specifically designed for re-engaging at-risk banking customers. Its purpose is to deliver personalized messaging, offer tailored solutions or incentives, and initiate a dialogue to prevent customer attrition. The template focuses on a clear call-to-action and aims to reinforce the customer's relationship with BBCA &amp; BMRI, thereby safeguarding valuable customer relationships.</a:t>
            </a:r>
          </a:p>
          <a:p>
            <a:pPr>
              <a:spcBef>
                <a:spcPts val="500"/>
              </a:spcBef>
            </a:pPr>
            <a:r>
              <a:rPr sz="1200" b="1">
                <a:solidFill>
                  <a:srgbClr val="37474F"/>
                </a:solidFill>
              </a:rPr>
              <a:t>Performance Projections</a:t>
            </a:r>
          </a:p>
          <a:p>
            <a:pPr>
              <a:spcBef>
                <a:spcPts val="500"/>
              </a:spcBef>
            </a:pPr>
            <a:r>
              <a:rPr sz="1200" b="0">
                <a:solidFill>
                  <a:srgbClr val="37474F"/>
                </a:solidFill>
              </a:rPr>
              <a:t>Based on the strategic targeting and diverse content formats, we project strong performance across both campaigns. For the 'Annual Contract Upgrade - Setia &amp; Hemat' campaign, we anticipate a significant increase in click-through rates (CTR) for the targeted ad copy, leading to a measurable uplift in annual contract upgrades and an improved customer retention rate among this segment. The 'Customer Churn Prevention &amp; Retention' campaign is expected to see enhanced social media engagement, positive brand sentiment, and, crucially, a reduction in the churn rate among at-risk customers targeted by the email campaign. We project improved open and click-through rates for the re-engagement email, translating into successful re-activations and a higher overall customer lifetime value for BBCA &amp; BMRI.</a:t>
            </a:r>
          </a:p>
          <a:p>
            <a:pPr>
              <a:spcBef>
                <a:spcPts val="500"/>
              </a:spcBef>
            </a:pPr>
            <a:r>
              <a:rPr sz="1200" b="1">
                <a:solidFill>
                  <a:srgbClr val="37474F"/>
                </a:solidFill>
              </a:rPr>
              <a:t>Next Steps</a:t>
            </a:r>
          </a:p>
          <a:p>
            <a:pPr>
              <a:spcBef>
                <a:spcPts val="500"/>
              </a:spcBef>
            </a:pPr>
            <a:r>
              <a:rPr sz="1200" b="0">
                <a:solidFill>
                  <a:srgbClr val="37474F"/>
                </a:solidFill>
              </a:rPr>
              <a:t>1.  Campaign Launch &amp; Monitoring: Immediately deploy all content across specified platforms. Establish robust tracking mechanisms to monitor key performance indicators (KPIs) such as CTR, conversion rates, engagement metrics, and churn reduction.</a:t>
            </a:r>
          </a:p>
          <a:p>
            <a:pPr>
              <a:spcBef>
                <a:spcPts val="500"/>
              </a:spcBef>
            </a:pPr>
            <a:r>
              <a:rPr sz="1200" b="0">
                <a:solidFill>
                  <a:srgbClr val="37474F"/>
                </a:solidFill>
              </a:rPr>
              <a:t>2.  A/B Testing &amp; Optimization: Implement A/B testing for ad copy variants, social media visuals, and email subject lines to identify top-performing assets. Continuously optimize content based on real-time performance data.</a:t>
            </a:r>
          </a:p>
          <a:p>
            <a:pPr>
              <a:spcBef>
                <a:spcPts val="500"/>
              </a:spcBef>
            </a:pPr>
            <a:r>
              <a:rPr sz="1200" b="0">
                <a:solidFill>
                  <a:srgbClr val="37474F"/>
                </a:solidFill>
              </a:rPr>
              <a:t>3.  Performance Review: Schedule a comprehensive performance review meeting within 4-6 weeks post-launch to analyze initial results, discuss learnings, and inform future content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914400" y="2103120"/>
            <a:ext cx="10360152" cy="1463040"/>
          </a:xfrm>
          <a:prstGeom prst="rect">
            <a:avLst/>
          </a:prstGeom>
          <a:noFill/>
        </p:spPr>
        <p:txBody>
          <a:bodyPr wrap="square">
            <a:spAutoFit/>
          </a:bodyPr>
          <a:lstStyle/>
          <a:p>
            <a:pPr algn="ctr"/>
            <a:r>
              <a:rPr sz="3600" b="1">
                <a:solidFill>
                  <a:srgbClr val="FFFFFF"/>
                </a:solidFill>
              </a:rPr>
              <a:t>Thank You</a:t>
            </a:r>
          </a:p>
        </p:txBody>
      </p:sp>
      <p:sp>
        <p:nvSpPr>
          <p:cNvPr id="3" name="TextBox 2"/>
          <p:cNvSpPr txBox="1"/>
          <p:nvPr/>
        </p:nvSpPr>
        <p:spPr>
          <a:xfrm>
            <a:off x="914400" y="3749039"/>
            <a:ext cx="10360152" cy="822960"/>
          </a:xfrm>
          <a:prstGeom prst="rect">
            <a:avLst/>
          </a:prstGeom>
          <a:noFill/>
        </p:spPr>
        <p:txBody>
          <a:bodyPr wrap="square">
            <a:spAutoFit/>
          </a:bodyPr>
          <a:lstStyle/>
          <a:p>
            <a:pPr algn="ctr"/>
            <a:r>
              <a:rPr sz="1800" b="0">
                <a:solidFill>
                  <a:srgbClr val="C8E6C9"/>
                </a:solidFill>
              </a:rPr>
              <a:t>Digital Marketing Campaign — Summary 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